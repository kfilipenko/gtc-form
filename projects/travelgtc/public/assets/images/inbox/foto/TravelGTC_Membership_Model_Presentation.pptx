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1A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A28"/>
          </a:solidFill>
          <a:ln w="12700">
            <a:solidFill>
              <a:srgbClr val="061A28">
                <a:alpha val="0"/>
              </a:srgbClr>
            </a:solidFill>
            <a:prstDash val="solid"/>
          </a:ln>
        </p:spPr>
      </p:sp>
      <p:pic>
        <p:nvPicPr>
          <p:cNvPr id="3" name="Image 0" descr="/mnt/data/романтический_ужин_при_закате_у_моря.png">    </p:cNvPr>
          <p:cNvPicPr>
            <a:picLocks noChangeAspect="1"/>
          </p:cNvPicPr>
          <p:nvPr/>
        </p:nvPicPr>
        <p:blipFill>
          <a:blip r:embed="rId1"/>
          <a:srcRect l="17480" r="17480" t="0" b="0"/>
          <a:stretch/>
        </p:blipFill>
        <p:spPr>
          <a:xfrm>
            <a:off x="6583680" y="502920"/>
            <a:ext cx="5074920" cy="58521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583680" y="502920"/>
            <a:ext cx="5074920" cy="5852160"/>
          </a:xfrm>
          <a:prstGeom prst="roundRect">
            <a:avLst>
              <a:gd name="adj" fmla="val 3604"/>
            </a:avLst>
          </a:prstGeom>
          <a:solidFill>
            <a:srgbClr val="FFFFFF">
              <a:alpha val="0"/>
            </a:srgbClr>
          </a:solidFill>
          <a:ln w="12700">
            <a:solidFill>
              <a:srgbClr val="00C7D9">
                <a:alpha val="45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85216" y="25603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8B8"/>
                </a:solidFill>
              </a:rPr>
              <a:t>TravelGTC · модельный пример членства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94360" y="841248"/>
            <a:ext cx="566928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Как путешествовать</a:t>
            </a:r>
            <a:endParaRPr lang="en-US" sz="3900" dirty="0"/>
          </a:p>
          <a:p>
            <a:pPr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премиум-классом</a:t>
            </a:r>
            <a:endParaRPr lang="en-US" sz="3900" dirty="0"/>
          </a:p>
          <a:p>
            <a:pPr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за $26,5 в месяц?</a:t>
            </a:r>
            <a:endParaRPr lang="en-US" sz="3900" dirty="0"/>
          </a:p>
        </p:txBody>
      </p:sp>
      <p:sp>
        <p:nvSpPr>
          <p:cNvPr id="7" name="Text 4"/>
          <p:cNvSpPr/>
          <p:nvPr/>
        </p:nvSpPr>
        <p:spPr>
          <a:xfrm>
            <a:off x="621792" y="2834640"/>
            <a:ext cx="539496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D7E6ED"/>
                </a:solidFill>
              </a:rPr>
              <a:t>Расчётный сценарий Travel Advantage для пары на 24 месяца. Подходит для супругов, семьи или бизнес-партнёров, которые путешествуют вместе.</a:t>
            </a:r>
            <a:endParaRPr lang="en-US" sz="1340" dirty="0"/>
          </a:p>
        </p:txBody>
      </p:sp>
      <p:sp>
        <p:nvSpPr>
          <p:cNvPr id="8" name="Shape 5"/>
          <p:cNvSpPr/>
          <p:nvPr/>
        </p:nvSpPr>
        <p:spPr>
          <a:xfrm>
            <a:off x="621792" y="3931920"/>
            <a:ext cx="1234440" cy="384048"/>
          </a:xfrm>
          <a:prstGeom prst="roundRect">
            <a:avLst>
              <a:gd name="adj" fmla="val 28571"/>
            </a:avLst>
          </a:prstGeom>
          <a:solidFill>
            <a:srgbClr val="00C7D9"/>
          </a:solidFill>
          <a:ln w="12700">
            <a:solidFill>
              <a:srgbClr val="00C7D9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13232" y="4018788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061A28"/>
                </a:solidFill>
              </a:rPr>
              <a:t>2 аккаунта</a:t>
            </a:r>
            <a:endParaRPr lang="en-US" sz="980" dirty="0"/>
          </a:p>
        </p:txBody>
      </p:sp>
      <p:sp>
        <p:nvSpPr>
          <p:cNvPr id="10" name="Shape 7"/>
          <p:cNvSpPr/>
          <p:nvPr/>
        </p:nvSpPr>
        <p:spPr>
          <a:xfrm>
            <a:off x="1993392" y="3931920"/>
            <a:ext cx="1444752" cy="384048"/>
          </a:xfrm>
          <a:prstGeom prst="roundRect">
            <a:avLst>
              <a:gd name="adj" fmla="val 28571"/>
            </a:avLst>
          </a:prstGeom>
          <a:solidFill>
            <a:srgbClr val="9BEA2E"/>
          </a:solidFill>
          <a:ln w="12700">
            <a:solidFill>
              <a:srgbClr val="9BEA2E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084832" y="4018788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061A28"/>
                </a:solidFill>
              </a:rPr>
              <a:t>Elite + Turbo</a:t>
            </a:r>
            <a:endParaRPr lang="en-US" sz="980" dirty="0"/>
          </a:p>
        </p:txBody>
      </p:sp>
      <p:sp>
        <p:nvSpPr>
          <p:cNvPr id="12" name="Shape 9"/>
          <p:cNvSpPr/>
          <p:nvPr/>
        </p:nvSpPr>
        <p:spPr>
          <a:xfrm>
            <a:off x="3584448" y="3931920"/>
            <a:ext cx="1554480" cy="384048"/>
          </a:xfrm>
          <a:prstGeom prst="roundRect">
            <a:avLst>
              <a:gd name="adj" fmla="val 28571"/>
            </a:avLst>
          </a:prstGeom>
          <a:solidFill>
            <a:srgbClr val="FFD166"/>
          </a:solidFill>
          <a:ln w="12700">
            <a:solidFill>
              <a:srgbClr val="FFD166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675888" y="401878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061A28"/>
                </a:solidFill>
              </a:rPr>
              <a:t>3 и свободен</a:t>
            </a:r>
            <a:endParaRPr lang="en-US" sz="980" dirty="0"/>
          </a:p>
        </p:txBody>
      </p:sp>
      <p:sp>
        <p:nvSpPr>
          <p:cNvPr id="14" name="Shape 11"/>
          <p:cNvSpPr/>
          <p:nvPr/>
        </p:nvSpPr>
        <p:spPr>
          <a:xfrm>
            <a:off x="5285232" y="3931920"/>
            <a:ext cx="1261872" cy="384048"/>
          </a:xfrm>
          <a:prstGeom prst="roundRect">
            <a:avLst>
              <a:gd name="adj" fmla="val 28571"/>
            </a:avLst>
          </a:prstGeom>
          <a:solidFill>
            <a:srgbClr val="00C7D9"/>
          </a:solidFill>
          <a:ln w="12700">
            <a:solidFill>
              <a:srgbClr val="00C7D9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376672" y="4018788"/>
            <a:ext cx="1078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061A28"/>
                </a:solidFill>
              </a:rPr>
              <a:t>24 месяца</a:t>
            </a:r>
            <a:endParaRPr lang="en-US" sz="980" dirty="0"/>
          </a:p>
        </p:txBody>
      </p:sp>
      <p:sp>
        <p:nvSpPr>
          <p:cNvPr id="16" name="Text 13"/>
          <p:cNvSpPr/>
          <p:nvPr/>
        </p:nvSpPr>
        <p:spPr>
          <a:xfrm>
            <a:off x="594360" y="6455664"/>
            <a:ext cx="10972800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8FA8B8"/>
                </a:solidFill>
              </a:rPr>
              <a:t>Это модельный пример, а не гарантия результата. Условия необходимо проверять на официальных ресурсах MWR Life / Travel Advantage.</a:t>
            </a:r>
            <a:endParaRPr lang="en-US" sz="71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1A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A28"/>
          </a:solidFill>
          <a:ln w="12700">
            <a:solidFill>
              <a:srgbClr val="061A28">
                <a:alpha val="0"/>
              </a:srgbClr>
            </a:solidFill>
            <a:prstDash val="solid"/>
          </a:ln>
        </p:spPr>
      </p:sp>
      <p:pic>
        <p:nvPicPr>
          <p:cNvPr id="3" name="Image 0" descr="/mnt/data/закат_над_побережьем_с_друзьями.png">    </p:cNvPr>
          <p:cNvPicPr>
            <a:picLocks noChangeAspect="1"/>
          </p:cNvPicPr>
          <p:nvPr/>
        </p:nvPicPr>
        <p:blipFill>
          <a:blip r:embed="rId1"/>
          <a:srcRect l="25597" r="25597" t="0" b="0"/>
          <a:stretch/>
        </p:blipFill>
        <p:spPr>
          <a:xfrm>
            <a:off x="6583680" y="502920"/>
            <a:ext cx="5074920" cy="58521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583680" y="502920"/>
            <a:ext cx="5074920" cy="5852160"/>
          </a:xfrm>
          <a:prstGeom prst="roundRect">
            <a:avLst>
              <a:gd name="adj" fmla="val 3604"/>
            </a:avLst>
          </a:prstGeom>
          <a:solidFill>
            <a:srgbClr val="FFFFFF">
              <a:alpha val="0"/>
            </a:srgbClr>
          </a:solidFill>
          <a:ln w="12700">
            <a:solidFill>
              <a:srgbClr val="00C7D9">
                <a:alpha val="45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85216" y="25603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8B8"/>
                </a:solidFill>
              </a:rPr>
              <a:t>TravelGTC · модельный пример членства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94360" y="749808"/>
            <a:ext cx="566928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4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Суть стратегии</a:t>
            </a:r>
            <a:endParaRPr lang="en-US" sz="4100" dirty="0"/>
          </a:p>
        </p:txBody>
      </p:sp>
      <p:sp>
        <p:nvSpPr>
          <p:cNvPr id="7" name="Text 4"/>
          <p:cNvSpPr/>
          <p:nvPr/>
        </p:nvSpPr>
        <p:spPr>
          <a:xfrm>
            <a:off x="621792" y="2029968"/>
            <a:ext cx="539496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D7E6ED"/>
                </a:solidFill>
              </a:rPr>
              <a:t>Идея: не просто купить доступ, а создать travel-систему для пары и ближайшего круга.</a:t>
            </a:r>
            <a:endParaRPr lang="en-US" sz="1340" dirty="0"/>
          </a:p>
        </p:txBody>
      </p:sp>
      <p:sp>
        <p:nvSpPr>
          <p:cNvPr id="8" name="Shape 5"/>
          <p:cNvSpPr/>
          <p:nvPr/>
        </p:nvSpPr>
        <p:spPr>
          <a:xfrm>
            <a:off x="621792" y="2542032"/>
            <a:ext cx="2697480" cy="987552"/>
          </a:xfrm>
          <a:prstGeom prst="roundRect">
            <a:avLst>
              <a:gd name="adj" fmla="val 14815"/>
            </a:avLst>
          </a:prstGeom>
          <a:solidFill>
            <a:srgbClr val="0B2A3A"/>
          </a:solidFill>
          <a:ln w="12700">
            <a:solidFill>
              <a:srgbClr val="00C7D9">
                <a:alpha val="65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2670048"/>
            <a:ext cx="2386584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👥 2 аккаунта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77240" y="3044952"/>
            <a:ext cx="2386584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D7E6ED"/>
                </a:solidFill>
              </a:rPr>
              <a:t>Муж + жена или два партнёра. Каждый строит свой путь.</a:t>
            </a:r>
            <a:endParaRPr lang="en-US" sz="1140" dirty="0"/>
          </a:p>
        </p:txBody>
      </p:sp>
      <p:sp>
        <p:nvSpPr>
          <p:cNvPr id="11" name="Shape 8"/>
          <p:cNvSpPr/>
          <p:nvPr/>
        </p:nvSpPr>
        <p:spPr>
          <a:xfrm>
            <a:off x="3529584" y="2542032"/>
            <a:ext cx="2697480" cy="987552"/>
          </a:xfrm>
          <a:prstGeom prst="roundRect">
            <a:avLst>
              <a:gd name="adj" fmla="val 14815"/>
            </a:avLst>
          </a:prstGeom>
          <a:solidFill>
            <a:srgbClr val="0B2A3A"/>
          </a:solidFill>
          <a:ln w="12700">
            <a:solidFill>
              <a:srgbClr val="9BEA2E">
                <a:alpha val="65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685032" y="2670048"/>
            <a:ext cx="2386584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⭐ Сильный уровень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3685032" y="3044952"/>
            <a:ext cx="2386584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D7E6ED"/>
                </a:solidFill>
              </a:rPr>
              <a:t>Elite + Turbo как старт для активного сценария.</a:t>
            </a:r>
            <a:endParaRPr lang="en-US" sz="1140" dirty="0"/>
          </a:p>
        </p:txBody>
      </p:sp>
      <p:sp>
        <p:nvSpPr>
          <p:cNvPr id="14" name="Shape 11"/>
          <p:cNvSpPr/>
          <p:nvPr/>
        </p:nvSpPr>
        <p:spPr>
          <a:xfrm>
            <a:off x="621792" y="3785616"/>
            <a:ext cx="2697480" cy="987552"/>
          </a:xfrm>
          <a:prstGeom prst="roundRect">
            <a:avLst>
              <a:gd name="adj" fmla="val 14815"/>
            </a:avLst>
          </a:prstGeom>
          <a:solidFill>
            <a:srgbClr val="0B2A3A"/>
          </a:solidFill>
          <a:ln w="12700">
            <a:solidFill>
              <a:srgbClr val="FFD166">
                <a:alpha val="65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77240" y="3913632"/>
            <a:ext cx="2386584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🔄 3 и свободен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777240" y="4288536"/>
            <a:ext cx="2386584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D7E6ED"/>
                </a:solidFill>
              </a:rPr>
              <a:t>Каждый приглашает по 3 активных путешественника.</a:t>
            </a:r>
            <a:endParaRPr lang="en-US" sz="1140" dirty="0"/>
          </a:p>
        </p:txBody>
      </p:sp>
      <p:sp>
        <p:nvSpPr>
          <p:cNvPr id="17" name="Shape 14"/>
          <p:cNvSpPr/>
          <p:nvPr/>
        </p:nvSpPr>
        <p:spPr>
          <a:xfrm>
            <a:off x="3529584" y="3785616"/>
            <a:ext cx="2697480" cy="987552"/>
          </a:xfrm>
          <a:prstGeom prst="roundRect">
            <a:avLst>
              <a:gd name="adj" fmla="val 14815"/>
            </a:avLst>
          </a:prstGeom>
          <a:solidFill>
            <a:srgbClr val="0B2A3A"/>
          </a:solidFill>
          <a:ln w="12700">
            <a:solidFill>
              <a:srgbClr val="00C7D9">
                <a:alpha val="65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685032" y="3913632"/>
            <a:ext cx="2386584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✈️ Цель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3685032" y="4288536"/>
            <a:ext cx="2386584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D7E6ED"/>
                </a:solidFill>
              </a:rPr>
              <a:t>4 Life Experience за 2 года при выполнении условий.</a:t>
            </a:r>
            <a:endParaRPr lang="en-US" sz="1140" dirty="0"/>
          </a:p>
        </p:txBody>
      </p:sp>
      <p:sp>
        <p:nvSpPr>
          <p:cNvPr id="20" name="Text 17"/>
          <p:cNvSpPr/>
          <p:nvPr/>
        </p:nvSpPr>
        <p:spPr>
          <a:xfrm>
            <a:off x="594360" y="6455664"/>
            <a:ext cx="10972800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8FA8B8"/>
                </a:solidFill>
              </a:rPr>
              <a:t>Сценарий зависит от активности приглашённых участников и актуальных правил программы.</a:t>
            </a:r>
            <a:endParaRPr lang="en-US" sz="71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1A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A28"/>
          </a:solidFill>
          <a:ln w="12700">
            <a:solidFill>
              <a:srgbClr val="061A28">
                <a:alpha val="0"/>
              </a:srgbClr>
            </a:solidFill>
            <a:prstDash val="solid"/>
          </a:ln>
        </p:spPr>
      </p:sp>
      <p:pic>
        <p:nvPicPr>
          <p:cNvPr id="3" name="Image 0" descr="/mnt/data/планирование_путешествия_на_террасе_у_моря.png">    </p:cNvPr>
          <p:cNvPicPr>
            <a:picLocks noChangeAspect="1"/>
          </p:cNvPicPr>
          <p:nvPr/>
        </p:nvPicPr>
        <p:blipFill>
          <a:blip r:embed="rId1"/>
          <a:srcRect l="25597" r="25597" t="0" b="0"/>
          <a:stretch/>
        </p:blipFill>
        <p:spPr>
          <a:xfrm>
            <a:off x="6583680" y="502920"/>
            <a:ext cx="5074920" cy="58521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583680" y="502920"/>
            <a:ext cx="5074920" cy="5852160"/>
          </a:xfrm>
          <a:prstGeom prst="roundRect">
            <a:avLst>
              <a:gd name="adj" fmla="val 3604"/>
            </a:avLst>
          </a:prstGeom>
          <a:solidFill>
            <a:srgbClr val="FFFFFF">
              <a:alpha val="0"/>
            </a:srgbClr>
          </a:solidFill>
          <a:ln w="12700">
            <a:solidFill>
              <a:srgbClr val="00C7D9">
                <a:alpha val="45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85216" y="25603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8B8"/>
                </a:solidFill>
              </a:rPr>
              <a:t>TravelGTC · модельный пример членства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94360" y="749808"/>
            <a:ext cx="566928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4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Живые расходы</a:t>
            </a:r>
            <a:endParaRPr lang="en-US" sz="4100" dirty="0"/>
          </a:p>
          <a:p>
            <a:pPr indent="0" marL="0">
              <a:buNone/>
            </a:pPr>
            <a:r>
              <a:rPr lang="en-US" sz="4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за 2 года</a:t>
            </a:r>
            <a:endParaRPr lang="en-US" sz="4100" dirty="0"/>
          </a:p>
        </p:txBody>
      </p:sp>
      <p:sp>
        <p:nvSpPr>
          <p:cNvPr id="7" name="Text 4"/>
          <p:cNvSpPr/>
          <p:nvPr/>
        </p:nvSpPr>
        <p:spPr>
          <a:xfrm>
            <a:off x="621792" y="2240280"/>
            <a:ext cx="539496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D7E6ED"/>
                </a:solidFill>
              </a:rPr>
              <a:t>В этом сценарии абонентская нагрузка считается закрытой за счёт активной структуры “3 и свободен”.</a:t>
            </a:r>
            <a:endParaRPr lang="en-US" sz="1340" dirty="0"/>
          </a:p>
        </p:txBody>
      </p:sp>
      <p:sp>
        <p:nvSpPr>
          <p:cNvPr id="8" name="Text 5"/>
          <p:cNvSpPr/>
          <p:nvPr/>
        </p:nvSpPr>
        <p:spPr>
          <a:xfrm>
            <a:off x="658368" y="27889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00C7D9"/>
                </a:solidFill>
              </a:rPr>
              <a:t>$240</a:t>
            </a:r>
            <a:endParaRPr lang="en-US" sz="3100" dirty="0"/>
          </a:p>
        </p:txBody>
      </p:sp>
      <p:sp>
        <p:nvSpPr>
          <p:cNvPr id="9" name="Text 6"/>
          <p:cNvSpPr/>
          <p:nvPr/>
        </p:nvSpPr>
        <p:spPr>
          <a:xfrm>
            <a:off x="658368" y="327355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D7E6ED"/>
                </a:solidFill>
              </a:rPr>
              <a:t>активация 2 приложений</a:t>
            </a:r>
            <a:endParaRPr lang="en-US" sz="1070" dirty="0"/>
          </a:p>
        </p:txBody>
      </p:sp>
      <p:sp>
        <p:nvSpPr>
          <p:cNvPr id="10" name="Text 7"/>
          <p:cNvSpPr/>
          <p:nvPr/>
        </p:nvSpPr>
        <p:spPr>
          <a:xfrm>
            <a:off x="3108960" y="27889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D166"/>
                </a:solidFill>
              </a:rPr>
              <a:t>$198</a:t>
            </a:r>
            <a:endParaRPr lang="en-US" sz="3100" dirty="0"/>
          </a:p>
        </p:txBody>
      </p:sp>
      <p:sp>
        <p:nvSpPr>
          <p:cNvPr id="11" name="Text 8"/>
          <p:cNvSpPr/>
          <p:nvPr/>
        </p:nvSpPr>
        <p:spPr>
          <a:xfrm>
            <a:off x="3108960" y="327355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D7E6ED"/>
                </a:solidFill>
              </a:rPr>
              <a:t>лицензии · 1 год</a:t>
            </a:r>
            <a:endParaRPr lang="en-US" sz="1070" dirty="0"/>
          </a:p>
        </p:txBody>
      </p:sp>
      <p:sp>
        <p:nvSpPr>
          <p:cNvPr id="12" name="Text 9"/>
          <p:cNvSpPr/>
          <p:nvPr/>
        </p:nvSpPr>
        <p:spPr>
          <a:xfrm>
            <a:off x="658368" y="396849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D166"/>
                </a:solidFill>
              </a:rPr>
              <a:t>$198</a:t>
            </a:r>
            <a:endParaRPr lang="en-US" sz="3100" dirty="0"/>
          </a:p>
        </p:txBody>
      </p:sp>
      <p:sp>
        <p:nvSpPr>
          <p:cNvPr id="13" name="Text 10"/>
          <p:cNvSpPr/>
          <p:nvPr/>
        </p:nvSpPr>
        <p:spPr>
          <a:xfrm>
            <a:off x="658368" y="445312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D7E6ED"/>
                </a:solidFill>
              </a:rPr>
              <a:t>продление · 2 год</a:t>
            </a:r>
            <a:endParaRPr lang="en-US" sz="1070" dirty="0"/>
          </a:p>
        </p:txBody>
      </p:sp>
      <p:sp>
        <p:nvSpPr>
          <p:cNvPr id="14" name="Text 11"/>
          <p:cNvSpPr/>
          <p:nvPr/>
        </p:nvSpPr>
        <p:spPr>
          <a:xfrm>
            <a:off x="3108960" y="396849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9BEA2E"/>
                </a:solidFill>
              </a:rPr>
              <a:t>$636</a:t>
            </a:r>
            <a:endParaRPr lang="en-US" sz="3100" dirty="0"/>
          </a:p>
        </p:txBody>
      </p:sp>
      <p:sp>
        <p:nvSpPr>
          <p:cNvPr id="15" name="Text 12"/>
          <p:cNvSpPr/>
          <p:nvPr/>
        </p:nvSpPr>
        <p:spPr>
          <a:xfrm>
            <a:off x="3108960" y="445312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D7E6ED"/>
                </a:solidFill>
              </a:rPr>
              <a:t>всего за 24 месяца</a:t>
            </a:r>
            <a:endParaRPr lang="en-US" sz="1070" dirty="0"/>
          </a:p>
        </p:txBody>
      </p:sp>
      <p:sp>
        <p:nvSpPr>
          <p:cNvPr id="16" name="Text 13"/>
          <p:cNvSpPr/>
          <p:nvPr/>
        </p:nvSpPr>
        <p:spPr>
          <a:xfrm>
            <a:off x="658368" y="5230368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$26,5 / месяц на семью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594360" y="6455664"/>
            <a:ext cx="10972800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8FA8B8"/>
                </a:solidFill>
              </a:rPr>
              <a:t>Если условия “3 и свободен” не выполнены, расходы будут иными. Это важно проговаривать честно.</a:t>
            </a:r>
            <a:endParaRPr lang="en-US" sz="71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1A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A28"/>
          </a:solidFill>
          <a:ln w="12700">
            <a:solidFill>
              <a:srgbClr val="061A28">
                <a:alpha val="0"/>
              </a:srgbClr>
            </a:solidFill>
            <a:prstDash val="solid"/>
          </a:ln>
        </p:spPr>
      </p:sp>
      <p:pic>
        <p:nvPicPr>
          <p:cNvPr id="3" name="Image 0" descr="/mnt/data/технологии_на_закате_у_обрыва.png">    </p:cNvPr>
          <p:cNvPicPr>
            <a:picLocks noChangeAspect="1"/>
          </p:cNvPicPr>
          <p:nvPr/>
        </p:nvPicPr>
        <p:blipFill>
          <a:blip r:embed="rId1"/>
          <a:srcRect l="25597" r="25597" t="0" b="0"/>
          <a:stretch/>
        </p:blipFill>
        <p:spPr>
          <a:xfrm>
            <a:off x="6583680" y="502920"/>
            <a:ext cx="5074920" cy="58521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583680" y="502920"/>
            <a:ext cx="5074920" cy="5852160"/>
          </a:xfrm>
          <a:prstGeom prst="roundRect">
            <a:avLst>
              <a:gd name="adj" fmla="val 3604"/>
            </a:avLst>
          </a:prstGeom>
          <a:solidFill>
            <a:srgbClr val="FFFFFF">
              <a:alpha val="0"/>
            </a:srgbClr>
          </a:solidFill>
          <a:ln w="12700">
            <a:solidFill>
              <a:srgbClr val="00C7D9">
                <a:alpha val="45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85216" y="25603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8B8"/>
                </a:solidFill>
              </a:rPr>
              <a:t>TravelGTC · модельный пример членства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94360" y="749808"/>
            <a:ext cx="566928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Откуда берётся</a:t>
            </a:r>
            <a:endParaRPr lang="en-US" sz="3900" dirty="0"/>
          </a:p>
          <a:p>
            <a:pPr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travel-value?</a:t>
            </a:r>
            <a:endParaRPr lang="en-US" sz="3900" dirty="0"/>
          </a:p>
        </p:txBody>
      </p:sp>
      <p:sp>
        <p:nvSpPr>
          <p:cNvPr id="7" name="Text 4"/>
          <p:cNvSpPr/>
          <p:nvPr/>
        </p:nvSpPr>
        <p:spPr>
          <a:xfrm>
            <a:off x="621792" y="2212848"/>
            <a:ext cx="539496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D7E6ED"/>
                </a:solidFill>
              </a:rPr>
              <a:t>Сценарий использует логику Loyalty Points при активном Elite + Turbo-подходе.</a:t>
            </a:r>
            <a:endParaRPr lang="en-US" sz="1340" dirty="0"/>
          </a:p>
        </p:txBody>
      </p:sp>
      <p:sp>
        <p:nvSpPr>
          <p:cNvPr id="8" name="Shape 5"/>
          <p:cNvSpPr/>
          <p:nvPr/>
        </p:nvSpPr>
        <p:spPr>
          <a:xfrm>
            <a:off x="658368" y="2761488"/>
            <a:ext cx="5440680" cy="1417320"/>
          </a:xfrm>
          <a:prstGeom prst="roundRect">
            <a:avLst>
              <a:gd name="adj" fmla="val 10323"/>
            </a:avLst>
          </a:prstGeom>
          <a:solidFill>
            <a:srgbClr val="0B2A3A"/>
          </a:solidFill>
          <a:ln w="12700">
            <a:solidFill>
              <a:srgbClr val="00C7D9">
                <a:alpha val="7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4400" y="3017520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24 месяца × 240 баллов × 2 аккаунта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914400" y="3493008"/>
            <a:ext cx="4892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9BEA2E"/>
                </a:solidFill>
              </a:rPr>
              <a:t>= 11 520 Loyalty Points</a:t>
            </a:r>
            <a:endParaRPr lang="en-US" sz="2900" dirty="0"/>
          </a:p>
        </p:txBody>
      </p:sp>
      <p:sp>
        <p:nvSpPr>
          <p:cNvPr id="11" name="Text 8"/>
          <p:cNvSpPr/>
          <p:nvPr/>
        </p:nvSpPr>
        <p:spPr>
          <a:xfrm>
            <a:off x="621792" y="4617720"/>
            <a:ext cx="5394960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D7E6ED"/>
                </a:solidFill>
              </a:rPr>
              <a:t>Loyalty Points — не cash. Это travel-value внутри программы, применяемый только там, где это разрешено правилами и конкретным заказом.</a:t>
            </a:r>
            <a:endParaRPr lang="en-US" sz="1340" dirty="0"/>
          </a:p>
        </p:txBody>
      </p:sp>
      <p:sp>
        <p:nvSpPr>
          <p:cNvPr id="12" name="Text 9"/>
          <p:cNvSpPr/>
          <p:nvPr/>
        </p:nvSpPr>
        <p:spPr>
          <a:xfrm>
            <a:off x="594360" y="6455664"/>
            <a:ext cx="10972800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8FA8B8"/>
                </a:solidFill>
              </a:rPr>
              <a:t>Сколько именно можно применить, показывает официальный процесс бронирования и актуальные правила программы.</a:t>
            </a:r>
            <a:endParaRPr lang="en-US" sz="71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1A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A28"/>
          </a:solidFill>
          <a:ln w="12700">
            <a:solidFill>
              <a:srgbClr val="061A28">
                <a:alpha val="0"/>
              </a:srgbClr>
            </a:solidFill>
            <a:prstDash val="solid"/>
          </a:ln>
        </p:spPr>
      </p:sp>
      <p:pic>
        <p:nvPicPr>
          <p:cNvPr id="3" name="Image 0" descr="/mnt/data/роскошный_закат_на_крыше_у_бассейна.png">    </p:cNvPr>
          <p:cNvPicPr>
            <a:picLocks noChangeAspect="1"/>
          </p:cNvPicPr>
          <p:nvPr/>
        </p:nvPicPr>
        <p:blipFill>
          <a:blip r:embed="rId1"/>
          <a:srcRect l="25597" r="25597" t="0" b="0"/>
          <a:stretch/>
        </p:blipFill>
        <p:spPr>
          <a:xfrm>
            <a:off x="6583680" y="502920"/>
            <a:ext cx="5074920" cy="58521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583680" y="502920"/>
            <a:ext cx="5074920" cy="5852160"/>
          </a:xfrm>
          <a:prstGeom prst="roundRect">
            <a:avLst>
              <a:gd name="adj" fmla="val 3604"/>
            </a:avLst>
          </a:prstGeom>
          <a:solidFill>
            <a:srgbClr val="FFFFFF">
              <a:alpha val="0"/>
            </a:srgbClr>
          </a:solidFill>
          <a:ln w="12700">
            <a:solidFill>
              <a:srgbClr val="00C7D9">
                <a:alpha val="45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85216" y="25603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8B8"/>
                </a:solidFill>
              </a:rPr>
              <a:t>TravelGTC · модельный пример членства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94360" y="749808"/>
            <a:ext cx="566928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 премиум-поездки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за 2 года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621792" y="2331720"/>
            <a:ext cx="539496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D7E6ED"/>
                </a:solidFill>
              </a:rPr>
              <a:t>Пример применения баллов для Life Experience на двоих, если доступность и правила подтверждены.</a:t>
            </a:r>
            <a:endParaRPr lang="en-US" sz="1340" dirty="0"/>
          </a:p>
        </p:txBody>
      </p:sp>
      <p:sp>
        <p:nvSpPr>
          <p:cNvPr id="8" name="Shape 5"/>
          <p:cNvSpPr/>
          <p:nvPr/>
        </p:nvSpPr>
        <p:spPr>
          <a:xfrm>
            <a:off x="658368" y="3063240"/>
            <a:ext cx="2514600" cy="941832"/>
          </a:xfrm>
          <a:prstGeom prst="roundRect">
            <a:avLst>
              <a:gd name="adj" fmla="val 15534"/>
            </a:avLst>
          </a:prstGeom>
          <a:solidFill>
            <a:srgbClr val="0B2A3A"/>
          </a:solidFill>
          <a:ln w="12700">
            <a:solidFill>
              <a:srgbClr val="FFD166">
                <a:alpha val="65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13816" y="3191256"/>
            <a:ext cx="2203704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$2 800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13816" y="3566160"/>
            <a:ext cx="2203704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D7E6ED"/>
                </a:solidFill>
              </a:rPr>
              <a:t>средняя стоимость одного тура на двоих</a:t>
            </a:r>
            <a:endParaRPr lang="en-US" sz="1140" dirty="0"/>
          </a:p>
        </p:txBody>
      </p:sp>
      <p:sp>
        <p:nvSpPr>
          <p:cNvPr id="11" name="Shape 8"/>
          <p:cNvSpPr/>
          <p:nvPr/>
        </p:nvSpPr>
        <p:spPr>
          <a:xfrm>
            <a:off x="3401568" y="3063240"/>
            <a:ext cx="2514600" cy="941832"/>
          </a:xfrm>
          <a:prstGeom prst="roundRect">
            <a:avLst>
              <a:gd name="adj" fmla="val 15534"/>
            </a:avLst>
          </a:prstGeom>
          <a:solidFill>
            <a:srgbClr val="0B2A3A"/>
          </a:solidFill>
          <a:ln w="12700">
            <a:solidFill>
              <a:srgbClr val="00C7D9">
                <a:alpha val="65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557016" y="3191256"/>
            <a:ext cx="2203704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11 200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3557016" y="3566160"/>
            <a:ext cx="2203704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D7E6ED"/>
                </a:solidFill>
              </a:rPr>
              <a:t>баллов для 4 поездок по модели</a:t>
            </a:r>
            <a:endParaRPr lang="en-US" sz="1140" dirty="0"/>
          </a:p>
        </p:txBody>
      </p:sp>
      <p:sp>
        <p:nvSpPr>
          <p:cNvPr id="14" name="Shape 11"/>
          <p:cNvSpPr/>
          <p:nvPr/>
        </p:nvSpPr>
        <p:spPr>
          <a:xfrm>
            <a:off x="658368" y="4242816"/>
            <a:ext cx="2514600" cy="941832"/>
          </a:xfrm>
          <a:prstGeom prst="roundRect">
            <a:avLst>
              <a:gd name="adj" fmla="val 15534"/>
            </a:avLst>
          </a:prstGeom>
          <a:solidFill>
            <a:srgbClr val="0B2A3A"/>
          </a:solidFill>
          <a:ln w="12700">
            <a:solidFill>
              <a:srgbClr val="9BEA2E">
                <a:alpha val="65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13816" y="4370832"/>
            <a:ext cx="2203704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$0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813816" y="4745736"/>
            <a:ext cx="2203704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D7E6ED"/>
                </a:solidFill>
              </a:rPr>
              <a:t>доплата за отели в расчётном сценарии</a:t>
            </a:r>
            <a:endParaRPr lang="en-US" sz="1140" dirty="0"/>
          </a:p>
        </p:txBody>
      </p:sp>
      <p:sp>
        <p:nvSpPr>
          <p:cNvPr id="17" name="Shape 14"/>
          <p:cNvSpPr/>
          <p:nvPr/>
        </p:nvSpPr>
        <p:spPr>
          <a:xfrm>
            <a:off x="3401568" y="4242816"/>
            <a:ext cx="2514600" cy="941832"/>
          </a:xfrm>
          <a:prstGeom prst="roundRect">
            <a:avLst>
              <a:gd name="adj" fmla="val 15534"/>
            </a:avLst>
          </a:prstGeom>
          <a:solidFill>
            <a:srgbClr val="0B2A3A"/>
          </a:solidFill>
          <a:ln w="12700">
            <a:solidFill>
              <a:srgbClr val="00C7D9">
                <a:alpha val="65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557016" y="4370832"/>
            <a:ext cx="2203704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320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3557016" y="4745736"/>
            <a:ext cx="2203704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D7E6ED"/>
                </a:solidFill>
              </a:rPr>
              <a:t>баллов остатка на будущие поездки</a:t>
            </a:r>
            <a:endParaRPr lang="en-US" sz="1140" dirty="0"/>
          </a:p>
        </p:txBody>
      </p:sp>
      <p:sp>
        <p:nvSpPr>
          <p:cNvPr id="20" name="Text 17"/>
          <p:cNvSpPr/>
          <p:nvPr/>
        </p:nvSpPr>
        <p:spPr>
          <a:xfrm>
            <a:off x="594360" y="6455664"/>
            <a:ext cx="10972800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8FA8B8"/>
                </a:solidFill>
              </a:rPr>
              <a:t>Это презентационный сценарий, а не гарантия покрытия отелей или наличия Life Experience.</a:t>
            </a:r>
            <a:endParaRPr lang="en-US" sz="71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1A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A28"/>
          </a:solidFill>
          <a:ln w="12700">
            <a:solidFill>
              <a:srgbClr val="061A28">
                <a:alpha val="0"/>
              </a:srgbClr>
            </a:solidFill>
            <a:prstDash val="solid"/>
          </a:ln>
        </p:spPr>
      </p:sp>
      <p:pic>
        <p:nvPicPr>
          <p:cNvPr id="3" name="Image 0" descr="/mnt/data/ужин_на_террасе_у_моря.png">    </p:cNvPr>
          <p:cNvPicPr>
            <a:picLocks noChangeAspect="1"/>
          </p:cNvPicPr>
          <p:nvPr/>
        </p:nvPicPr>
        <p:blipFill>
          <a:blip r:embed="rId1"/>
          <a:srcRect l="25597" r="25597" t="0" b="0"/>
          <a:stretch/>
        </p:blipFill>
        <p:spPr>
          <a:xfrm>
            <a:off x="6583680" y="502920"/>
            <a:ext cx="5074920" cy="58521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583680" y="502920"/>
            <a:ext cx="5074920" cy="5852160"/>
          </a:xfrm>
          <a:prstGeom prst="roundRect">
            <a:avLst>
              <a:gd name="adj" fmla="val 3604"/>
            </a:avLst>
          </a:prstGeom>
          <a:solidFill>
            <a:srgbClr val="FFFFFF">
              <a:alpha val="0"/>
            </a:srgbClr>
          </a:solidFill>
          <a:ln w="12700">
            <a:solidFill>
              <a:srgbClr val="00C7D9">
                <a:alpha val="45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85216" y="25603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8B8"/>
                </a:solidFill>
              </a:rPr>
              <a:t>TravelGTC · модельный пример членства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94360" y="749808"/>
            <a:ext cx="566928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Клубная модель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vs розничный рынок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621792" y="2240280"/>
            <a:ext cx="539496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D7E6ED"/>
                </a:solidFill>
              </a:rPr>
              <a:t>Главная мысль для пары: сравнивать нужно не только цену входа, а весь сценарий на 24 месяца.</a:t>
            </a:r>
            <a:endParaRPr lang="en-US" sz="1340" dirty="0"/>
          </a:p>
        </p:txBody>
      </p:sp>
      <p:sp>
        <p:nvSpPr>
          <p:cNvPr id="8" name="Shape 5"/>
          <p:cNvSpPr/>
          <p:nvPr/>
        </p:nvSpPr>
        <p:spPr>
          <a:xfrm>
            <a:off x="640080" y="2971800"/>
            <a:ext cx="1920240" cy="960120"/>
          </a:xfrm>
          <a:prstGeom prst="roundRect">
            <a:avLst>
              <a:gd name="adj" fmla="val 15238"/>
            </a:avLst>
          </a:prstGeom>
          <a:solidFill>
            <a:srgbClr val="0B2A3A"/>
          </a:solidFill>
          <a:ln w="12700">
            <a:solidFill>
              <a:srgbClr val="FFD166">
                <a:alpha val="65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95528" y="3099816"/>
            <a:ext cx="1609344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Booking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95528" y="3474720"/>
            <a:ext cx="1609344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D7E6ED"/>
                </a:solidFill>
              </a:rPr>
              <a:t>$11 200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D7E6ED"/>
                </a:solidFill>
              </a:rPr>
              <a:t>из кармана</a:t>
            </a:r>
            <a:endParaRPr lang="en-US" sz="1140" dirty="0"/>
          </a:p>
        </p:txBody>
      </p:sp>
      <p:sp>
        <p:nvSpPr>
          <p:cNvPr id="11" name="Shape 8"/>
          <p:cNvSpPr/>
          <p:nvPr/>
        </p:nvSpPr>
        <p:spPr>
          <a:xfrm>
            <a:off x="2779776" y="2971800"/>
            <a:ext cx="1920240" cy="960120"/>
          </a:xfrm>
          <a:prstGeom prst="roundRect">
            <a:avLst>
              <a:gd name="adj" fmla="val 15238"/>
            </a:avLst>
          </a:prstGeom>
          <a:solidFill>
            <a:srgbClr val="0B2A3A"/>
          </a:solidFill>
          <a:ln w="12700">
            <a:solidFill>
              <a:srgbClr val="9BEA2E">
                <a:alpha val="65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935224" y="3099816"/>
            <a:ext cx="1609344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Клуб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2935224" y="3474720"/>
            <a:ext cx="1609344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D7E6ED"/>
                </a:solidFill>
              </a:rPr>
              <a:t>$636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D7E6ED"/>
                </a:solidFill>
              </a:rPr>
              <a:t>по модели</a:t>
            </a:r>
            <a:endParaRPr lang="en-US" sz="1140" dirty="0"/>
          </a:p>
        </p:txBody>
      </p:sp>
      <p:sp>
        <p:nvSpPr>
          <p:cNvPr id="14" name="Shape 11"/>
          <p:cNvSpPr/>
          <p:nvPr/>
        </p:nvSpPr>
        <p:spPr>
          <a:xfrm>
            <a:off x="4919472" y="2971800"/>
            <a:ext cx="1234440" cy="960120"/>
          </a:xfrm>
          <a:prstGeom prst="roundRect">
            <a:avLst>
              <a:gd name="adj" fmla="val 15238"/>
            </a:avLst>
          </a:prstGeom>
          <a:solidFill>
            <a:srgbClr val="0B2A3A"/>
          </a:solidFill>
          <a:ln w="12700">
            <a:solidFill>
              <a:srgbClr val="00C7D9">
                <a:alpha val="65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74920" y="3099816"/>
            <a:ext cx="923544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Разница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5074920" y="3474720"/>
            <a:ext cx="923544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D7E6ED"/>
                </a:solidFill>
              </a:rPr>
              <a:t>+$10 564</a:t>
            </a:r>
            <a:endParaRPr lang="en-US" sz="1140" dirty="0"/>
          </a:p>
        </p:txBody>
      </p:sp>
      <p:sp>
        <p:nvSpPr>
          <p:cNvPr id="17" name="Shape 14"/>
          <p:cNvSpPr/>
          <p:nvPr/>
        </p:nvSpPr>
        <p:spPr>
          <a:xfrm>
            <a:off x="640080" y="4224528"/>
            <a:ext cx="5513832" cy="822960"/>
          </a:xfrm>
          <a:prstGeom prst="roundRect">
            <a:avLst>
              <a:gd name="adj" fmla="val 17778"/>
            </a:avLst>
          </a:prstGeom>
          <a:solidFill>
            <a:srgbClr val="0B2A3A"/>
          </a:solidFill>
          <a:ln w="12700">
            <a:solidFill>
              <a:srgbClr val="00C7D9">
                <a:alpha val="65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95528" y="4352544"/>
            <a:ext cx="5202936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Важно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795528" y="4727448"/>
            <a:ext cx="5202936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D7E6ED"/>
                </a:solidFill>
              </a:rPr>
              <a:t>Сравнение работает только как модельный вариант при активной структуре и подтверждении условий.</a:t>
            </a:r>
            <a:endParaRPr lang="en-US" sz="1140" dirty="0"/>
          </a:p>
        </p:txBody>
      </p:sp>
      <p:sp>
        <p:nvSpPr>
          <p:cNvPr id="20" name="Text 17"/>
          <p:cNvSpPr/>
          <p:nvPr/>
        </p:nvSpPr>
        <p:spPr>
          <a:xfrm>
            <a:off x="594360" y="6455664"/>
            <a:ext cx="10972800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8FA8B8"/>
                </a:solidFill>
              </a:rPr>
              <a:t>Не использовать как публичное обещание выгоды. Говорить: “покажу модель, затем сверим официальные условия”.</a:t>
            </a:r>
            <a:endParaRPr lang="en-US" sz="71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1A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A28"/>
          </a:solidFill>
          <a:ln w="12700">
            <a:solidFill>
              <a:srgbClr val="061A28">
                <a:alpha val="0"/>
              </a:srgbClr>
            </a:solidFill>
            <a:prstDash val="solid"/>
          </a:ln>
        </p:spPr>
      </p:sp>
      <p:pic>
        <p:nvPicPr>
          <p:cNvPr id="3" name="Image 0" descr="/mnt/data/закатная_вечеринка_у_бассейна_на_крыше.png">    </p:cNvPr>
          <p:cNvPicPr>
            <a:picLocks noChangeAspect="1"/>
          </p:cNvPicPr>
          <p:nvPr/>
        </p:nvPicPr>
        <p:blipFill>
          <a:blip r:embed="rId1"/>
          <a:srcRect l="25597" r="25597" t="0" b="0"/>
          <a:stretch/>
        </p:blipFill>
        <p:spPr>
          <a:xfrm>
            <a:off x="6583680" y="502920"/>
            <a:ext cx="5074920" cy="58521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583680" y="502920"/>
            <a:ext cx="5074920" cy="5852160"/>
          </a:xfrm>
          <a:prstGeom prst="roundRect">
            <a:avLst>
              <a:gd name="adj" fmla="val 3604"/>
            </a:avLst>
          </a:prstGeom>
          <a:solidFill>
            <a:srgbClr val="FFFFFF">
              <a:alpha val="0"/>
            </a:srgbClr>
          </a:solidFill>
          <a:ln w="12700">
            <a:solidFill>
              <a:srgbClr val="00C7D9">
                <a:alpha val="45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85216" y="25603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8B8"/>
                </a:solidFill>
              </a:rPr>
              <a:t>TravelGTC · модельный пример членства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94360" y="749808"/>
            <a:ext cx="566928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За счёт чего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работает система?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621792" y="2240280"/>
            <a:ext cx="539496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D7E6ED"/>
                </a:solidFill>
              </a:rPr>
              <a:t>Не магия. Команда, сопровождение и активность.</a:t>
            </a:r>
            <a:endParaRPr lang="en-US" sz="1340" dirty="0"/>
          </a:p>
        </p:txBody>
      </p:sp>
      <p:sp>
        <p:nvSpPr>
          <p:cNvPr id="8" name="Shape 5"/>
          <p:cNvSpPr/>
          <p:nvPr/>
        </p:nvSpPr>
        <p:spPr>
          <a:xfrm>
            <a:off x="658368" y="2761488"/>
            <a:ext cx="1645920" cy="987552"/>
          </a:xfrm>
          <a:prstGeom prst="roundRect">
            <a:avLst>
              <a:gd name="adj" fmla="val 14815"/>
            </a:avLst>
          </a:prstGeom>
          <a:solidFill>
            <a:srgbClr val="0B2A3A"/>
          </a:solidFill>
          <a:ln w="12700">
            <a:solidFill>
              <a:srgbClr val="FFD166">
                <a:alpha val="65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13816" y="2889504"/>
            <a:ext cx="1335024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1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13816" y="3264408"/>
            <a:ext cx="1335024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D7E6ED"/>
                </a:solidFill>
              </a:rPr>
              <a:t>Ваша “шестёрка” остаётся активной.</a:t>
            </a:r>
            <a:endParaRPr lang="en-US" sz="1140" dirty="0"/>
          </a:p>
        </p:txBody>
      </p:sp>
      <p:sp>
        <p:nvSpPr>
          <p:cNvPr id="11" name="Shape 8"/>
          <p:cNvSpPr/>
          <p:nvPr/>
        </p:nvSpPr>
        <p:spPr>
          <a:xfrm>
            <a:off x="2514600" y="2761488"/>
            <a:ext cx="1645920" cy="987552"/>
          </a:xfrm>
          <a:prstGeom prst="roundRect">
            <a:avLst>
              <a:gd name="adj" fmla="val 14815"/>
            </a:avLst>
          </a:prstGeom>
          <a:solidFill>
            <a:srgbClr val="0B2A3A"/>
          </a:solidFill>
          <a:ln w="12700">
            <a:solidFill>
              <a:srgbClr val="00C7D9">
                <a:alpha val="65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670048" y="2889504"/>
            <a:ext cx="1335024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2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2670048" y="3264408"/>
            <a:ext cx="1335024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D7E6ED"/>
                </a:solidFill>
              </a:rPr>
              <a:t>Вы помогаете своим 3 людям стать безоплатниками.</a:t>
            </a:r>
            <a:endParaRPr lang="en-US" sz="1140" dirty="0"/>
          </a:p>
        </p:txBody>
      </p:sp>
      <p:sp>
        <p:nvSpPr>
          <p:cNvPr id="14" name="Shape 11"/>
          <p:cNvSpPr/>
          <p:nvPr/>
        </p:nvSpPr>
        <p:spPr>
          <a:xfrm>
            <a:off x="4370832" y="2761488"/>
            <a:ext cx="1645920" cy="987552"/>
          </a:xfrm>
          <a:prstGeom prst="roundRect">
            <a:avLst>
              <a:gd name="adj" fmla="val 14815"/>
            </a:avLst>
          </a:prstGeom>
          <a:solidFill>
            <a:srgbClr val="0B2A3A"/>
          </a:solidFill>
          <a:ln w="12700">
            <a:solidFill>
              <a:srgbClr val="9BEA2E">
                <a:alpha val="65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26280" y="2889504"/>
            <a:ext cx="1335024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3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4526280" y="3264408"/>
            <a:ext cx="1335024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D7E6ED"/>
                </a:solidFill>
              </a:rPr>
              <a:t>Люди понимают продукт и двигаются дальше.</a:t>
            </a:r>
            <a:endParaRPr lang="en-US" sz="1140" dirty="0"/>
          </a:p>
        </p:txBody>
      </p:sp>
      <p:sp>
        <p:nvSpPr>
          <p:cNvPr id="17" name="Text 14"/>
          <p:cNvSpPr/>
          <p:nvPr/>
        </p:nvSpPr>
        <p:spPr>
          <a:xfrm>
            <a:off x="685800" y="4343400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Сначала продукт. Потом команда. Потом путешествия.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594360" y="6455664"/>
            <a:ext cx="10972800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8FA8B8"/>
                </a:solidFill>
              </a:rPr>
              <a:t>Доход и компенсации не гарантированы. Результат зависит от активности, правил и качества работы с людьми.</a:t>
            </a:r>
            <a:endParaRPr lang="en-US" sz="71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1A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A28"/>
          </a:solidFill>
          <a:ln w="12700">
            <a:solidFill>
              <a:srgbClr val="061A28">
                <a:alpha val="0"/>
              </a:srgbClr>
            </a:solidFill>
            <a:prstDash val="solid"/>
          </a:ln>
        </p:spPr>
      </p:sp>
      <p:pic>
        <p:nvPicPr>
          <p:cNvPr id="3" name="Image 0" descr="/mnt/data/закат_на_тропической_террасе.png">    </p:cNvPr>
          <p:cNvPicPr>
            <a:picLocks noChangeAspect="1"/>
          </p:cNvPicPr>
          <p:nvPr/>
        </p:nvPicPr>
        <p:blipFill>
          <a:blip r:embed="rId1"/>
          <a:srcRect l="25597" r="25597" t="0" b="0"/>
          <a:stretch/>
        </p:blipFill>
        <p:spPr>
          <a:xfrm>
            <a:off x="6583680" y="502920"/>
            <a:ext cx="5074920" cy="58521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583680" y="502920"/>
            <a:ext cx="5074920" cy="5852160"/>
          </a:xfrm>
          <a:prstGeom prst="roundRect">
            <a:avLst>
              <a:gd name="adj" fmla="val 3604"/>
            </a:avLst>
          </a:prstGeom>
          <a:solidFill>
            <a:srgbClr val="FFFFFF">
              <a:alpha val="0"/>
            </a:srgbClr>
          </a:solidFill>
          <a:ln w="12700">
            <a:solidFill>
              <a:srgbClr val="00C7D9">
                <a:alpha val="45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85216" y="25603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8B8"/>
                </a:solidFill>
              </a:rPr>
              <a:t>TravelGTC · модельный пример членства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94360" y="749808"/>
            <a:ext cx="566928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4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Готовы составить</a:t>
            </a:r>
            <a:endParaRPr lang="en-US" sz="4100" dirty="0"/>
          </a:p>
          <a:p>
            <a:pPr indent="0" marL="0">
              <a:buNone/>
            </a:pPr>
            <a:r>
              <a:rPr lang="en-US" sz="4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свой план?</a:t>
            </a:r>
            <a:endParaRPr lang="en-US" sz="4100" dirty="0"/>
          </a:p>
        </p:txBody>
      </p:sp>
      <p:sp>
        <p:nvSpPr>
          <p:cNvPr id="7" name="Text 4"/>
          <p:cNvSpPr/>
          <p:nvPr/>
        </p:nvSpPr>
        <p:spPr>
          <a:xfrm>
            <a:off x="621792" y="2331720"/>
            <a:ext cx="539496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D7E6ED"/>
                </a:solidFill>
              </a:rPr>
              <a:t>Для пары, семьи или партнёров следующий шаг — не “купить сейчас”, а пройти короткую диагностику и выбрать уровень Membership.</a:t>
            </a:r>
            <a:endParaRPr lang="en-US" sz="1340" dirty="0"/>
          </a:p>
        </p:txBody>
      </p:sp>
      <p:sp>
        <p:nvSpPr>
          <p:cNvPr id="8" name="Shape 5"/>
          <p:cNvSpPr/>
          <p:nvPr/>
        </p:nvSpPr>
        <p:spPr>
          <a:xfrm>
            <a:off x="658368" y="2971800"/>
            <a:ext cx="2103120" cy="384048"/>
          </a:xfrm>
          <a:prstGeom prst="roundRect">
            <a:avLst>
              <a:gd name="adj" fmla="val 28571"/>
            </a:avLst>
          </a:prstGeom>
          <a:solidFill>
            <a:srgbClr val="00C7D9"/>
          </a:solidFill>
          <a:ln w="12700">
            <a:solidFill>
              <a:srgbClr val="00C7D9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9808" y="305866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061A28"/>
                </a:solidFill>
              </a:rPr>
              <a:t>1. Сравнить Membership</a:t>
            </a:r>
            <a:endParaRPr lang="en-US" sz="980" dirty="0"/>
          </a:p>
        </p:txBody>
      </p:sp>
      <p:sp>
        <p:nvSpPr>
          <p:cNvPr id="10" name="Shape 7"/>
          <p:cNvSpPr/>
          <p:nvPr/>
        </p:nvSpPr>
        <p:spPr>
          <a:xfrm>
            <a:off x="2980944" y="2971800"/>
            <a:ext cx="1783080" cy="384048"/>
          </a:xfrm>
          <a:prstGeom prst="roundRect">
            <a:avLst>
              <a:gd name="adj" fmla="val 28571"/>
            </a:avLst>
          </a:prstGeom>
          <a:solidFill>
            <a:srgbClr val="FFD166"/>
          </a:solidFill>
          <a:ln w="12700">
            <a:solidFill>
              <a:srgbClr val="FFD166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072384" y="3058668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061A28"/>
                </a:solidFill>
              </a:rPr>
              <a:t>2. Проверить страну</a:t>
            </a:r>
            <a:endParaRPr lang="en-US" sz="980" dirty="0"/>
          </a:p>
        </p:txBody>
      </p:sp>
      <p:sp>
        <p:nvSpPr>
          <p:cNvPr id="12" name="Shape 9"/>
          <p:cNvSpPr/>
          <p:nvPr/>
        </p:nvSpPr>
        <p:spPr>
          <a:xfrm>
            <a:off x="4956048" y="2971800"/>
            <a:ext cx="1536192" cy="384048"/>
          </a:xfrm>
          <a:prstGeom prst="roundRect">
            <a:avLst>
              <a:gd name="adj" fmla="val 28571"/>
            </a:avLst>
          </a:prstGeom>
          <a:solidFill>
            <a:srgbClr val="9BEA2E"/>
          </a:solidFill>
          <a:ln w="12700">
            <a:solidFill>
              <a:srgbClr val="9BEA2E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47488" y="3058668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061A28"/>
                </a:solidFill>
              </a:rPr>
              <a:t>3. Получить ссылку</a:t>
            </a:r>
            <a:endParaRPr lang="en-US" sz="980" dirty="0"/>
          </a:p>
        </p:txBody>
      </p:sp>
      <p:sp>
        <p:nvSpPr>
          <p:cNvPr id="14" name="Shape 11"/>
          <p:cNvSpPr/>
          <p:nvPr/>
        </p:nvSpPr>
        <p:spPr>
          <a:xfrm>
            <a:off x="658368" y="3968496"/>
            <a:ext cx="5440680" cy="960120"/>
          </a:xfrm>
          <a:prstGeom prst="roundRect">
            <a:avLst>
              <a:gd name="adj" fmla="val 15238"/>
            </a:avLst>
          </a:prstGeom>
          <a:solidFill>
            <a:srgbClr val="0B2A3A"/>
          </a:solidFill>
          <a:ln w="12700">
            <a:solidFill>
              <a:srgbClr val="9BEA2E">
                <a:alpha val="65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13816" y="4096512"/>
            <a:ext cx="5129784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Следующий шаг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813816" y="4471416"/>
            <a:ext cx="5129784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D7E6ED"/>
                </a:solidFill>
              </a:rPr>
              <a:t>Консультация TravelGTC: проверить условия, выбрать сценарий и перейти к официальной регистрации.</a:t>
            </a:r>
            <a:endParaRPr lang="en-US" sz="1140" dirty="0"/>
          </a:p>
        </p:txBody>
      </p:sp>
      <p:sp>
        <p:nvSpPr>
          <p:cNvPr id="17" name="Text 14"/>
          <p:cNvSpPr/>
          <p:nvPr/>
        </p:nvSpPr>
        <p:spPr>
          <a:xfrm>
            <a:off x="594360" y="6455664"/>
            <a:ext cx="10972800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8FA8B8"/>
                </a:solidFill>
              </a:rPr>
              <a:t>Перед регистрацией сверяйте актуальные тарифы, документы, условия участия и правила программы.</a:t>
            </a:r>
            <a:endParaRPr lang="en-US" sz="71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TravelGTC Membership Scenario</dc:title>
  <dc:subject>Модель членства Travel Advantage для пары / семьи / бизнес-партнёров</dc:subject>
  <dc:creator>TravelGTC</dc:creator>
  <cp:lastModifiedBy>TravelGTC</cp:lastModifiedBy>
  <cp:revision>1</cp:revision>
  <dcterms:created xsi:type="dcterms:W3CDTF">2026-07-31T07:02:10Z</dcterms:created>
  <dcterms:modified xsi:type="dcterms:W3CDTF">2026-07-31T07:02:10Z</dcterms:modified>
</cp:coreProperties>
</file>